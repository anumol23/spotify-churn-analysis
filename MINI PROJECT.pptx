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sldIdLst>
    <p:sldId id="256" r:id="rId2"/>
    <p:sldId id="257" r:id="rId3"/>
    <p:sldId id="258" r:id="rId4"/>
    <p:sldId id="259" r:id="rId5"/>
    <p:sldId id="267" r:id="rId6"/>
    <p:sldId id="260" r:id="rId7"/>
    <p:sldId id="261" r:id="rId8"/>
    <p:sldId id="262" r:id="rId9"/>
    <p:sldId id="263" r:id="rId10"/>
    <p:sldId id="268" r:id="rId11"/>
    <p:sldId id="269" r:id="rId12"/>
    <p:sldId id="270" r:id="rId13"/>
    <p:sldId id="264" r:id="rId14"/>
    <p:sldId id="265"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12709743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20073820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38857495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7D90951-2D97-484F-AF1C-E4FFF95FB507}"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13944538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7D90951-2D97-484F-AF1C-E4FFF95FB507}" type="datetimeFigureOut">
              <a:rPr lang="en-IN" smtClean="0"/>
              <a:t>08-05-2026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93439539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7D90951-2D97-484F-AF1C-E4FFF95FB507}" type="datetimeFigureOut">
              <a:rPr lang="en-IN" smtClean="0"/>
              <a:t>08-05-2026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11628822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D90951-2D97-484F-AF1C-E4FFF95FB507}" type="datetimeFigureOut">
              <a:rPr lang="en-IN" smtClean="0"/>
              <a:t>08-05-2026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27721838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7D90951-2D97-484F-AF1C-E4FFF95FB507}"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1447762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D90951-2D97-484F-AF1C-E4FFF95FB507}" type="datetimeFigureOut">
              <a:rPr lang="en-IN" smtClean="0"/>
              <a:t>08-05-2026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325729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321868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00294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1805536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92041350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7975586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22136483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7D90951-2D97-484F-AF1C-E4FFF95FB507}" type="datetimeFigureOut">
              <a:rPr lang="en-IN" smtClean="0"/>
              <a:t>08-05-2026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26D3170-0689-41B6-883B-EE693B5FD8B1}" type="slidenum">
              <a:rPr lang="en-IN" smtClean="0"/>
              <a:t>‹#›</a:t>
            </a:fld>
            <a:endParaRPr lang="en-IN"/>
          </a:p>
        </p:txBody>
      </p:sp>
    </p:spTree>
    <p:extLst>
      <p:ext uri="{BB962C8B-B14F-4D97-AF65-F5344CB8AC3E}">
        <p14:creationId xmlns:p14="http://schemas.microsoft.com/office/powerpoint/2010/main" val="21628462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E7D90951-2D97-484F-AF1C-E4FFF95FB507}" type="datetimeFigureOut">
              <a:rPr lang="en-IN" smtClean="0"/>
              <a:t>08-05-2026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526D3170-0689-41B6-883B-EE693B5FD8B1}" type="slidenum">
              <a:rPr lang="en-IN" smtClean="0"/>
              <a:t>‹#›</a:t>
            </a:fld>
            <a:endParaRPr lang="en-IN"/>
          </a:p>
        </p:txBody>
      </p:sp>
    </p:spTree>
    <p:extLst>
      <p:ext uri="{BB962C8B-B14F-4D97-AF65-F5344CB8AC3E}">
        <p14:creationId xmlns:p14="http://schemas.microsoft.com/office/powerpoint/2010/main" val="3923968551"/>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C5F0AE-9F90-E4D1-07C5-692A994D0733}"/>
              </a:ext>
            </a:extLst>
          </p:cNvPr>
          <p:cNvSpPr>
            <a:spLocks noGrp="1"/>
          </p:cNvSpPr>
          <p:nvPr>
            <p:ph type="ctrTitle"/>
          </p:nvPr>
        </p:nvSpPr>
        <p:spPr>
          <a:xfrm>
            <a:off x="570271" y="147484"/>
            <a:ext cx="8703732" cy="3903352"/>
          </a:xfrm>
        </p:spPr>
        <p:txBody>
          <a:bodyPr/>
          <a:lstStyle/>
          <a:p>
            <a:pPr algn="ctr"/>
            <a:r>
              <a:rPr lang="en-IN" dirty="0">
                <a:latin typeface="Cambria" panose="02040503050406030204" pitchFamily="18" charset="0"/>
                <a:ea typeface="Cambria" panose="02040503050406030204" pitchFamily="18" charset="0"/>
              </a:rPr>
              <a:t>MINI PROJECT REPORT ON</a:t>
            </a:r>
          </a:p>
        </p:txBody>
      </p:sp>
      <p:sp>
        <p:nvSpPr>
          <p:cNvPr id="3" name="Subtitle 2">
            <a:extLst>
              <a:ext uri="{FF2B5EF4-FFF2-40B4-BE49-F238E27FC236}">
                <a16:creationId xmlns:a16="http://schemas.microsoft.com/office/drawing/2014/main" id="{95518956-3F7E-D968-A82E-89B5E14BBA7B}"/>
              </a:ext>
            </a:extLst>
          </p:cNvPr>
          <p:cNvSpPr>
            <a:spLocks noGrp="1"/>
          </p:cNvSpPr>
          <p:nvPr>
            <p:ph type="subTitle" idx="1"/>
          </p:nvPr>
        </p:nvSpPr>
        <p:spPr/>
        <p:txBody>
          <a:bodyPr>
            <a:normAutofit/>
          </a:bodyPr>
          <a:lstStyle/>
          <a:p>
            <a:pPr algn="ctr"/>
            <a:r>
              <a:rPr lang="en-IN" sz="2800" dirty="0">
                <a:solidFill>
                  <a:schemeClr val="accent1"/>
                </a:solidFill>
                <a:latin typeface="Cambria" panose="02040503050406030204" pitchFamily="18" charset="0"/>
                <a:ea typeface="Cambria" panose="02040503050406030204" pitchFamily="18" charset="0"/>
              </a:rPr>
              <a:t>SPOTIFY CHURN ANALYSIS USING POWER BI</a:t>
            </a:r>
          </a:p>
        </p:txBody>
      </p:sp>
      <p:pic>
        <p:nvPicPr>
          <p:cNvPr id="8" name="Picture 7">
            <a:extLst>
              <a:ext uri="{FF2B5EF4-FFF2-40B4-BE49-F238E27FC236}">
                <a16:creationId xmlns:a16="http://schemas.microsoft.com/office/drawing/2014/main" id="{34874412-EEA7-7352-96BF-B7B130C1ECB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9047" y="4599282"/>
            <a:ext cx="3826179" cy="2217887"/>
          </a:xfrm>
          <a:prstGeom prst="rect">
            <a:avLst/>
          </a:prstGeom>
          <a:ln>
            <a:noFill/>
          </a:ln>
          <a:effectLst>
            <a:softEdge rad="112500"/>
          </a:effectLst>
        </p:spPr>
      </p:pic>
      <p:pic>
        <p:nvPicPr>
          <p:cNvPr id="10" name="Picture 9">
            <a:extLst>
              <a:ext uri="{FF2B5EF4-FFF2-40B4-BE49-F238E27FC236}">
                <a16:creationId xmlns:a16="http://schemas.microsoft.com/office/drawing/2014/main" id="{AA96DF6D-637F-FBF0-50C6-E33E7F8F83A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1285" y="147484"/>
            <a:ext cx="5761704" cy="3135876"/>
          </a:xfrm>
          <a:prstGeom prst="rect">
            <a:avLst/>
          </a:prstGeom>
          <a:ln>
            <a:noFill/>
          </a:ln>
          <a:effectLst>
            <a:softEdge rad="112500"/>
          </a:effectLst>
        </p:spPr>
      </p:pic>
    </p:spTree>
    <p:extLst>
      <p:ext uri="{BB962C8B-B14F-4D97-AF65-F5344CB8AC3E}">
        <p14:creationId xmlns:p14="http://schemas.microsoft.com/office/powerpoint/2010/main" val="34051946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6F4D5F-E0E7-980A-41C0-6F0FBDA6EA17}"/>
              </a:ext>
            </a:extLst>
          </p:cNvPr>
          <p:cNvSpPr>
            <a:spLocks noGrp="1"/>
          </p:cNvSpPr>
          <p:nvPr>
            <p:ph type="title"/>
          </p:nvPr>
        </p:nvSpPr>
        <p:spPr>
          <a:xfrm>
            <a:off x="677334" y="609600"/>
            <a:ext cx="8596668" cy="747252"/>
          </a:xfrm>
        </p:spPr>
        <p:txBody>
          <a:bodyPr/>
          <a:lstStyle/>
          <a:p>
            <a:pPr algn="ctr"/>
            <a:r>
              <a:rPr lang="en-IN" dirty="0">
                <a:latin typeface="Cambria" panose="02040503050406030204" pitchFamily="18" charset="0"/>
                <a:ea typeface="Cambria" panose="02040503050406030204" pitchFamily="18" charset="0"/>
              </a:rPr>
              <a:t>CONTENTS</a:t>
            </a:r>
          </a:p>
        </p:txBody>
      </p:sp>
      <p:sp>
        <p:nvSpPr>
          <p:cNvPr id="3" name="Content Placeholder 2">
            <a:extLst>
              <a:ext uri="{FF2B5EF4-FFF2-40B4-BE49-F238E27FC236}">
                <a16:creationId xmlns:a16="http://schemas.microsoft.com/office/drawing/2014/main" id="{83BFC437-F2D6-06DF-916C-26016717B155}"/>
              </a:ext>
            </a:extLst>
          </p:cNvPr>
          <p:cNvSpPr>
            <a:spLocks noGrp="1"/>
          </p:cNvSpPr>
          <p:nvPr>
            <p:ph idx="1"/>
          </p:nvPr>
        </p:nvSpPr>
        <p:spPr/>
        <p:txBody>
          <a:bodyPr/>
          <a:lstStyle/>
          <a:p>
            <a:pPr>
              <a:buFont typeface="+mj-lt"/>
              <a:buAutoNum type="arabicPeriod"/>
            </a:pPr>
            <a:r>
              <a:rPr lang="en-IN" dirty="0">
                <a:latin typeface="Cambria" panose="02040503050406030204" pitchFamily="18" charset="0"/>
                <a:ea typeface="Cambria" panose="02040503050406030204" pitchFamily="18" charset="0"/>
              </a:rPr>
              <a:t>Introduction</a:t>
            </a:r>
          </a:p>
          <a:p>
            <a:pPr>
              <a:buFont typeface="+mj-lt"/>
              <a:buAutoNum type="arabicPeriod"/>
            </a:pPr>
            <a:r>
              <a:rPr lang="en-IN" dirty="0">
                <a:latin typeface="Cambria" panose="02040503050406030204" pitchFamily="18" charset="0"/>
                <a:ea typeface="Cambria" panose="02040503050406030204" pitchFamily="18" charset="0"/>
              </a:rPr>
              <a:t>Dataset Description</a:t>
            </a:r>
          </a:p>
          <a:p>
            <a:pPr>
              <a:buFont typeface="+mj-lt"/>
              <a:buAutoNum type="arabicPeriod"/>
            </a:pPr>
            <a:r>
              <a:rPr lang="en-IN" dirty="0">
                <a:latin typeface="Cambria" panose="02040503050406030204" pitchFamily="18" charset="0"/>
                <a:ea typeface="Cambria" panose="02040503050406030204" pitchFamily="18" charset="0"/>
              </a:rPr>
              <a:t>Objective</a:t>
            </a:r>
          </a:p>
          <a:p>
            <a:pPr>
              <a:buFont typeface="+mj-lt"/>
              <a:buAutoNum type="arabicPeriod"/>
            </a:pPr>
            <a:r>
              <a:rPr lang="en-IN" dirty="0">
                <a:latin typeface="Cambria" panose="02040503050406030204" pitchFamily="18" charset="0"/>
                <a:ea typeface="Cambria" panose="02040503050406030204" pitchFamily="18" charset="0"/>
              </a:rPr>
              <a:t>Tools Used</a:t>
            </a:r>
          </a:p>
          <a:p>
            <a:pPr>
              <a:buFont typeface="+mj-lt"/>
              <a:buAutoNum type="arabicPeriod"/>
            </a:pPr>
            <a:r>
              <a:rPr lang="en-IN" dirty="0">
                <a:latin typeface="Cambria" panose="02040503050406030204" pitchFamily="18" charset="0"/>
                <a:ea typeface="Cambria" panose="02040503050406030204" pitchFamily="18" charset="0"/>
              </a:rPr>
              <a:t>Data Preparation</a:t>
            </a:r>
          </a:p>
          <a:p>
            <a:pPr>
              <a:buFont typeface="+mj-lt"/>
              <a:buAutoNum type="arabicPeriod"/>
            </a:pPr>
            <a:r>
              <a:rPr lang="en-IN" dirty="0">
                <a:latin typeface="Cambria" panose="02040503050406030204" pitchFamily="18" charset="0"/>
                <a:ea typeface="Cambria" panose="02040503050406030204" pitchFamily="18" charset="0"/>
              </a:rPr>
              <a:t>Key Measures (DAX)</a:t>
            </a:r>
          </a:p>
          <a:p>
            <a:pPr>
              <a:buFont typeface="+mj-lt"/>
              <a:buAutoNum type="arabicPeriod"/>
            </a:pPr>
            <a:r>
              <a:rPr lang="en-IN" dirty="0">
                <a:latin typeface="Cambria" panose="02040503050406030204" pitchFamily="18" charset="0"/>
                <a:ea typeface="Cambria" panose="02040503050406030204" pitchFamily="18" charset="0"/>
              </a:rPr>
              <a:t>Dashboard Overview</a:t>
            </a:r>
          </a:p>
          <a:p>
            <a:pPr>
              <a:buFont typeface="+mj-lt"/>
              <a:buAutoNum type="arabicPeriod"/>
            </a:pPr>
            <a:r>
              <a:rPr lang="en-IN" dirty="0">
                <a:latin typeface="Cambria" panose="02040503050406030204" pitchFamily="18" charset="0"/>
                <a:ea typeface="Cambria" panose="02040503050406030204" pitchFamily="18" charset="0"/>
              </a:rPr>
              <a:t>Key Insights</a:t>
            </a:r>
          </a:p>
          <a:p>
            <a:pPr>
              <a:buFont typeface="+mj-lt"/>
              <a:buAutoNum type="arabicPeriod"/>
            </a:pPr>
            <a:r>
              <a:rPr lang="en-IN" dirty="0">
                <a:latin typeface="Cambria" panose="02040503050406030204" pitchFamily="18" charset="0"/>
                <a:ea typeface="Cambria" panose="02040503050406030204" pitchFamily="18" charset="0"/>
              </a:rPr>
              <a:t>Conclusion</a:t>
            </a:r>
          </a:p>
          <a:p>
            <a:pPr marL="0" indent="0">
              <a:buNone/>
            </a:pPr>
            <a:endParaRPr lang="en-IN" dirty="0"/>
          </a:p>
        </p:txBody>
      </p:sp>
    </p:spTree>
    <p:extLst>
      <p:ext uri="{BB962C8B-B14F-4D97-AF65-F5344CB8AC3E}">
        <p14:creationId xmlns:p14="http://schemas.microsoft.com/office/powerpoint/2010/main" val="40176236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B1B03-B48F-4A98-2DA3-775E020C372E}"/>
              </a:ext>
            </a:extLst>
          </p:cNvPr>
          <p:cNvSpPr>
            <a:spLocks noGrp="1"/>
          </p:cNvSpPr>
          <p:nvPr>
            <p:ph type="title"/>
          </p:nvPr>
        </p:nvSpPr>
        <p:spPr/>
        <p:txBody>
          <a:bodyPr/>
          <a:lstStyle/>
          <a:p>
            <a:r>
              <a:rPr lang="en-IN" dirty="0"/>
              <a:t>Introduction</a:t>
            </a:r>
          </a:p>
        </p:txBody>
      </p:sp>
      <p:sp>
        <p:nvSpPr>
          <p:cNvPr id="3" name="Content Placeholder 2">
            <a:extLst>
              <a:ext uri="{FF2B5EF4-FFF2-40B4-BE49-F238E27FC236}">
                <a16:creationId xmlns:a16="http://schemas.microsoft.com/office/drawing/2014/main" id="{2E98708C-488E-FBB2-DA28-200EFE05F43C}"/>
              </a:ext>
            </a:extLst>
          </p:cNvPr>
          <p:cNvSpPr>
            <a:spLocks noGrp="1"/>
          </p:cNvSpPr>
          <p:nvPr>
            <p:ph idx="1"/>
          </p:nvPr>
        </p:nvSpPr>
        <p:spPr/>
        <p:txBody>
          <a:bodyPr/>
          <a:lstStyle/>
          <a:p>
            <a:pPr marL="0" indent="0">
              <a:buNone/>
            </a:pPr>
            <a:r>
              <a:rPr lang="en-US" dirty="0">
                <a:latin typeface="Cambria" panose="02040503050406030204" pitchFamily="18" charset="0"/>
                <a:ea typeface="Cambria" panose="02040503050406030204" pitchFamily="18" charset="0"/>
              </a:rPr>
              <a:t>Customer churn is a major challenge for subscription-based platforms like Spotify. Churn refers to users who stop using a service. This project focuses on analyzing user behavior to identify patterns and factors that influence churn using Power BI.</a:t>
            </a:r>
          </a:p>
          <a:p>
            <a:pPr marL="0" indent="0">
              <a:buNone/>
            </a:pPr>
            <a:endParaRPr lang="en-IN" dirty="0"/>
          </a:p>
        </p:txBody>
      </p:sp>
    </p:spTree>
    <p:extLst>
      <p:ext uri="{BB962C8B-B14F-4D97-AF65-F5344CB8AC3E}">
        <p14:creationId xmlns:p14="http://schemas.microsoft.com/office/powerpoint/2010/main" val="19059142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6E13BA-6287-5579-D460-DB53357FF5A8}"/>
              </a:ext>
            </a:extLst>
          </p:cNvPr>
          <p:cNvSpPr>
            <a:spLocks noGrp="1"/>
          </p:cNvSpPr>
          <p:nvPr>
            <p:ph type="title"/>
          </p:nvPr>
        </p:nvSpPr>
        <p:spPr/>
        <p:txBody>
          <a:bodyPr/>
          <a:lstStyle/>
          <a:p>
            <a:r>
              <a:rPr lang="en-IN" b="1" dirty="0"/>
              <a:t>Dataset Description</a:t>
            </a:r>
            <a:br>
              <a:rPr lang="en-IN" b="1" dirty="0"/>
            </a:br>
            <a:endParaRPr lang="en-IN" dirty="0"/>
          </a:p>
        </p:txBody>
      </p:sp>
      <p:sp>
        <p:nvSpPr>
          <p:cNvPr id="3" name="Content Placeholder 2">
            <a:extLst>
              <a:ext uri="{FF2B5EF4-FFF2-40B4-BE49-F238E27FC236}">
                <a16:creationId xmlns:a16="http://schemas.microsoft.com/office/drawing/2014/main" id="{57DBB3B3-E5F2-A605-EA4E-C7AED1FD4FA2}"/>
              </a:ext>
            </a:extLst>
          </p:cNvPr>
          <p:cNvSpPr>
            <a:spLocks noGrp="1"/>
          </p:cNvSpPr>
          <p:nvPr>
            <p:ph idx="1"/>
          </p:nvPr>
        </p:nvSpPr>
        <p:spPr>
          <a:xfrm>
            <a:off x="677334" y="1514168"/>
            <a:ext cx="8596668" cy="5122605"/>
          </a:xfrm>
        </p:spPr>
        <p:txBody>
          <a:bodyPr>
            <a:normAutofit fontScale="92500" lnSpcReduction="20000"/>
          </a:bodyPr>
          <a:lstStyle/>
          <a:p>
            <a:pPr marL="0" indent="0">
              <a:buNone/>
            </a:pPr>
            <a:r>
              <a:rPr lang="en-IN" dirty="0">
                <a:latin typeface="Cambria" panose="02040503050406030204" pitchFamily="18" charset="0"/>
                <a:ea typeface="Cambria" panose="02040503050406030204" pitchFamily="18" charset="0"/>
              </a:rPr>
              <a:t>Dataset used: Spotify Dataset for Churn Analysis (Kaggle)</a:t>
            </a:r>
          </a:p>
          <a:p>
            <a:pPr marL="0" indent="0">
              <a:buNone/>
            </a:pPr>
            <a:r>
              <a:rPr lang="en-IN" dirty="0">
                <a:latin typeface="Cambria" panose="02040503050406030204" pitchFamily="18" charset="0"/>
                <a:ea typeface="Cambria" panose="02040503050406030204" pitchFamily="18" charset="0"/>
              </a:rPr>
              <a:t>Total Records: </a:t>
            </a:r>
            <a:r>
              <a:rPr lang="en-IN" b="1" dirty="0">
                <a:latin typeface="Cambria" panose="02040503050406030204" pitchFamily="18" charset="0"/>
                <a:ea typeface="Cambria" panose="02040503050406030204" pitchFamily="18" charset="0"/>
              </a:rPr>
              <a:t>8000 users</a:t>
            </a:r>
            <a:r>
              <a:rPr lang="en-IN" dirty="0">
                <a:latin typeface="Cambria" panose="02040503050406030204" pitchFamily="18" charset="0"/>
                <a:ea typeface="Cambria" panose="02040503050406030204" pitchFamily="18" charset="0"/>
              </a:rPr>
              <a:t> </a:t>
            </a:r>
          </a:p>
          <a:p>
            <a:pPr marL="0" indent="0">
              <a:buNone/>
            </a:pPr>
            <a:r>
              <a:rPr lang="en-IN" dirty="0">
                <a:latin typeface="Cambria" panose="02040503050406030204" pitchFamily="18" charset="0"/>
                <a:ea typeface="Cambria" panose="02040503050406030204" pitchFamily="18" charset="0"/>
              </a:rPr>
              <a:t>Total Columns: </a:t>
            </a:r>
            <a:r>
              <a:rPr lang="en-IN" b="1" dirty="0">
                <a:latin typeface="Cambria" panose="02040503050406030204" pitchFamily="18" charset="0"/>
                <a:ea typeface="Cambria" panose="02040503050406030204" pitchFamily="18" charset="0"/>
              </a:rPr>
              <a:t>12 features</a:t>
            </a:r>
            <a:r>
              <a:rPr lang="en-IN" dirty="0">
                <a:latin typeface="Cambria" panose="02040503050406030204" pitchFamily="18" charset="0"/>
                <a:ea typeface="Cambria" panose="02040503050406030204" pitchFamily="18" charset="0"/>
              </a:rPr>
              <a:t> </a:t>
            </a:r>
          </a:p>
          <a:p>
            <a:pPr marL="0" indent="0">
              <a:buNone/>
            </a:pPr>
            <a:r>
              <a:rPr lang="en-IN" dirty="0">
                <a:latin typeface="Cambria" panose="02040503050406030204" pitchFamily="18" charset="0"/>
                <a:ea typeface="Cambria" panose="02040503050406030204" pitchFamily="18" charset="0"/>
              </a:rPr>
              <a:t>Data Type: Numerical and Categorical </a:t>
            </a:r>
          </a:p>
          <a:p>
            <a:r>
              <a:rPr lang="en-IN" b="1" dirty="0">
                <a:latin typeface="Cambria" panose="02040503050406030204" pitchFamily="18" charset="0"/>
                <a:ea typeface="Cambria" panose="02040503050406030204" pitchFamily="18" charset="0"/>
              </a:rPr>
              <a:t>Key columns:</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Age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Gender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Country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Subscription Type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Listening Time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Songs Played per Day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Skip Rate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Device Type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Ads Listened per Week </a:t>
            </a:r>
          </a:p>
          <a:p>
            <a:pPr>
              <a:buFont typeface="Courier New" panose="02070309020205020404" pitchFamily="49" charset="0"/>
              <a:buChar char="o"/>
            </a:pPr>
            <a:r>
              <a:rPr lang="en-IN" dirty="0">
                <a:latin typeface="Cambria" panose="02040503050406030204" pitchFamily="18" charset="0"/>
                <a:ea typeface="Cambria" panose="02040503050406030204" pitchFamily="18" charset="0"/>
              </a:rPr>
              <a:t>Churn (Target Variable)</a:t>
            </a:r>
          </a:p>
          <a:p>
            <a:endParaRPr lang="en-IN" dirty="0"/>
          </a:p>
        </p:txBody>
      </p:sp>
    </p:spTree>
    <p:extLst>
      <p:ext uri="{BB962C8B-B14F-4D97-AF65-F5344CB8AC3E}">
        <p14:creationId xmlns:p14="http://schemas.microsoft.com/office/powerpoint/2010/main" val="758940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D90EA3-9E49-D751-1837-C6E2D5B0D9D6}"/>
              </a:ext>
            </a:extLst>
          </p:cNvPr>
          <p:cNvSpPr>
            <a:spLocks noGrp="1"/>
          </p:cNvSpPr>
          <p:nvPr>
            <p:ph type="title"/>
          </p:nvPr>
        </p:nvSpPr>
        <p:spPr/>
        <p:txBody>
          <a:bodyPr/>
          <a:lstStyle/>
          <a:p>
            <a:r>
              <a:rPr lang="en-US" b="1" dirty="0"/>
              <a:t>Objective</a:t>
            </a:r>
            <a:br>
              <a:rPr lang="en-US" b="1" dirty="0"/>
            </a:br>
            <a:endParaRPr lang="en-IN" dirty="0"/>
          </a:p>
        </p:txBody>
      </p:sp>
      <p:sp>
        <p:nvSpPr>
          <p:cNvPr id="3" name="Content Placeholder 2">
            <a:extLst>
              <a:ext uri="{FF2B5EF4-FFF2-40B4-BE49-F238E27FC236}">
                <a16:creationId xmlns:a16="http://schemas.microsoft.com/office/drawing/2014/main" id="{62423327-C899-3CCF-73E2-0AC8233CB783}"/>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To analyze user behavior and identify churn patterns </a:t>
            </a:r>
          </a:p>
          <a:p>
            <a:r>
              <a:rPr lang="en-US" dirty="0">
                <a:latin typeface="Cambria" panose="02040503050406030204" pitchFamily="18" charset="0"/>
                <a:ea typeface="Cambria" panose="02040503050406030204" pitchFamily="18" charset="0"/>
              </a:rPr>
              <a:t>To understand factors affecting customer retention </a:t>
            </a:r>
          </a:p>
          <a:p>
            <a:r>
              <a:rPr lang="en-US" dirty="0">
                <a:latin typeface="Cambria" panose="02040503050406030204" pitchFamily="18" charset="0"/>
                <a:ea typeface="Cambria" panose="02040503050406030204" pitchFamily="18" charset="0"/>
              </a:rPr>
              <a:t>To build an interactive dashboard for data visualization </a:t>
            </a:r>
          </a:p>
          <a:p>
            <a:r>
              <a:rPr lang="en-US" dirty="0">
                <a:latin typeface="Cambria" panose="02040503050406030204" pitchFamily="18" charset="0"/>
                <a:ea typeface="Cambria" panose="02040503050406030204" pitchFamily="18" charset="0"/>
              </a:rPr>
              <a:t>To provide insights for reducing churn</a:t>
            </a:r>
          </a:p>
          <a:p>
            <a:endParaRPr lang="en-IN" dirty="0"/>
          </a:p>
        </p:txBody>
      </p:sp>
    </p:spTree>
    <p:extLst>
      <p:ext uri="{BB962C8B-B14F-4D97-AF65-F5344CB8AC3E}">
        <p14:creationId xmlns:p14="http://schemas.microsoft.com/office/powerpoint/2010/main" val="322187276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472A4-9727-3A91-ABD4-89658301AE42}"/>
              </a:ext>
            </a:extLst>
          </p:cNvPr>
          <p:cNvSpPr>
            <a:spLocks noGrp="1"/>
          </p:cNvSpPr>
          <p:nvPr>
            <p:ph type="title"/>
          </p:nvPr>
        </p:nvSpPr>
        <p:spPr/>
        <p:txBody>
          <a:bodyPr/>
          <a:lstStyle/>
          <a:p>
            <a:r>
              <a:rPr lang="en-US" b="1" dirty="0"/>
              <a:t>Tools Used</a:t>
            </a:r>
            <a:br>
              <a:rPr lang="en-US" b="1" dirty="0"/>
            </a:br>
            <a:endParaRPr lang="en-IN" dirty="0"/>
          </a:p>
        </p:txBody>
      </p:sp>
      <p:sp>
        <p:nvSpPr>
          <p:cNvPr id="3" name="Content Placeholder 2">
            <a:extLst>
              <a:ext uri="{FF2B5EF4-FFF2-40B4-BE49-F238E27FC236}">
                <a16:creationId xmlns:a16="http://schemas.microsoft.com/office/drawing/2014/main" id="{A8124252-F149-A327-3B4E-47CE4ED00165}"/>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Power BI Desktop </a:t>
            </a:r>
          </a:p>
          <a:p>
            <a:r>
              <a:rPr lang="en-US" dirty="0">
                <a:latin typeface="Cambria" panose="02040503050406030204" pitchFamily="18" charset="0"/>
                <a:ea typeface="Cambria" panose="02040503050406030204" pitchFamily="18" charset="0"/>
              </a:rPr>
              <a:t>Power Query (Data Cleaning) </a:t>
            </a:r>
          </a:p>
          <a:p>
            <a:r>
              <a:rPr lang="en-US" dirty="0">
                <a:latin typeface="Cambria" panose="02040503050406030204" pitchFamily="18" charset="0"/>
                <a:ea typeface="Cambria" panose="02040503050406030204" pitchFamily="18" charset="0"/>
              </a:rPr>
              <a:t>DAX (Measures and Calculations)</a:t>
            </a:r>
          </a:p>
          <a:p>
            <a:endParaRPr lang="en-IN" dirty="0"/>
          </a:p>
        </p:txBody>
      </p:sp>
    </p:spTree>
    <p:extLst>
      <p:ext uri="{BB962C8B-B14F-4D97-AF65-F5344CB8AC3E}">
        <p14:creationId xmlns:p14="http://schemas.microsoft.com/office/powerpoint/2010/main" val="172175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25870E-42E2-3E03-1585-FAFD7527BB8C}"/>
              </a:ext>
            </a:extLst>
          </p:cNvPr>
          <p:cNvSpPr>
            <a:spLocks noGrp="1"/>
          </p:cNvSpPr>
          <p:nvPr>
            <p:ph type="title"/>
          </p:nvPr>
        </p:nvSpPr>
        <p:spPr/>
        <p:txBody>
          <a:bodyPr/>
          <a:lstStyle/>
          <a:p>
            <a:r>
              <a:rPr lang="en-US" b="1" dirty="0"/>
              <a:t>Data Preparation</a:t>
            </a:r>
            <a:br>
              <a:rPr lang="en-US" b="1" dirty="0"/>
            </a:br>
            <a:endParaRPr lang="en-IN" dirty="0"/>
          </a:p>
        </p:txBody>
      </p:sp>
      <p:sp>
        <p:nvSpPr>
          <p:cNvPr id="3" name="Content Placeholder 2">
            <a:extLst>
              <a:ext uri="{FF2B5EF4-FFF2-40B4-BE49-F238E27FC236}">
                <a16:creationId xmlns:a16="http://schemas.microsoft.com/office/drawing/2014/main" id="{425B04F8-7546-20AF-AC43-AB30C5885CF9}"/>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Checked and corrected data types </a:t>
            </a:r>
          </a:p>
          <a:p>
            <a:r>
              <a:rPr lang="en-US" dirty="0">
                <a:latin typeface="Cambria" panose="02040503050406030204" pitchFamily="18" charset="0"/>
                <a:ea typeface="Cambria" panose="02040503050406030204" pitchFamily="18" charset="0"/>
              </a:rPr>
              <a:t>Created new columns: </a:t>
            </a:r>
          </a:p>
          <a:p>
            <a:pPr lvl="1"/>
            <a:r>
              <a:rPr lang="en-US" dirty="0">
                <a:latin typeface="Cambria" panose="02040503050406030204" pitchFamily="18" charset="0"/>
                <a:ea typeface="Cambria" panose="02040503050406030204" pitchFamily="18" charset="0"/>
              </a:rPr>
              <a:t>Age Group </a:t>
            </a:r>
          </a:p>
          <a:p>
            <a:pPr lvl="1"/>
            <a:r>
              <a:rPr lang="en-US" dirty="0">
                <a:latin typeface="Cambria" panose="02040503050406030204" pitchFamily="18" charset="0"/>
                <a:ea typeface="Cambria" panose="02040503050406030204" pitchFamily="18" charset="0"/>
              </a:rPr>
              <a:t>Listening Category </a:t>
            </a:r>
          </a:p>
          <a:p>
            <a:pPr lvl="1"/>
            <a:r>
              <a:rPr lang="en-US" dirty="0">
                <a:latin typeface="Cambria" panose="02040503050406030204" pitchFamily="18" charset="0"/>
                <a:ea typeface="Cambria" panose="02040503050406030204" pitchFamily="18" charset="0"/>
              </a:rPr>
              <a:t>Churn Status </a:t>
            </a:r>
          </a:p>
          <a:p>
            <a:r>
              <a:rPr lang="en-US" dirty="0">
                <a:latin typeface="Cambria" panose="02040503050406030204" pitchFamily="18" charset="0"/>
                <a:ea typeface="Cambria" panose="02040503050406030204" pitchFamily="18" charset="0"/>
              </a:rPr>
              <a:t>Removed inconsistencies (if any)</a:t>
            </a:r>
          </a:p>
          <a:p>
            <a:endParaRPr lang="en-IN" dirty="0"/>
          </a:p>
        </p:txBody>
      </p:sp>
    </p:spTree>
    <p:extLst>
      <p:ext uri="{BB962C8B-B14F-4D97-AF65-F5344CB8AC3E}">
        <p14:creationId xmlns:p14="http://schemas.microsoft.com/office/powerpoint/2010/main" val="22107341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C8043-5DD1-14DC-E286-EF90DFC928AB}"/>
              </a:ext>
            </a:extLst>
          </p:cNvPr>
          <p:cNvSpPr>
            <a:spLocks noGrp="1"/>
          </p:cNvSpPr>
          <p:nvPr>
            <p:ph type="title"/>
          </p:nvPr>
        </p:nvSpPr>
        <p:spPr/>
        <p:txBody>
          <a:bodyPr/>
          <a:lstStyle/>
          <a:p>
            <a:r>
              <a:rPr lang="en-US" b="1" dirty="0"/>
              <a:t>Key Measures (DAX)</a:t>
            </a:r>
            <a:br>
              <a:rPr lang="en-US" b="1" dirty="0"/>
            </a:br>
            <a:endParaRPr lang="en-IN" dirty="0"/>
          </a:p>
        </p:txBody>
      </p:sp>
      <p:sp>
        <p:nvSpPr>
          <p:cNvPr id="3" name="Content Placeholder 2">
            <a:extLst>
              <a:ext uri="{FF2B5EF4-FFF2-40B4-BE49-F238E27FC236}">
                <a16:creationId xmlns:a16="http://schemas.microsoft.com/office/drawing/2014/main" id="{D02C5CF9-5851-5495-075A-AEEBD7063067}"/>
              </a:ext>
            </a:extLst>
          </p:cNvPr>
          <p:cNvSpPr>
            <a:spLocks noGrp="1"/>
          </p:cNvSpPr>
          <p:nvPr>
            <p:ph idx="1"/>
          </p:nvPr>
        </p:nvSpPr>
        <p:spPr/>
        <p:txBody>
          <a:bodyPr/>
          <a:lstStyle/>
          <a:p>
            <a:r>
              <a:rPr lang="en-US" dirty="0">
                <a:latin typeface="Cambria" panose="02040503050406030204" pitchFamily="18" charset="0"/>
                <a:ea typeface="Cambria" panose="02040503050406030204" pitchFamily="18" charset="0"/>
              </a:rPr>
              <a:t>Total Users</a:t>
            </a:r>
          </a:p>
          <a:p>
            <a:r>
              <a:rPr lang="en-US" dirty="0">
                <a:latin typeface="Cambria" panose="02040503050406030204" pitchFamily="18" charset="0"/>
                <a:ea typeface="Cambria" panose="02040503050406030204" pitchFamily="18" charset="0"/>
              </a:rPr>
              <a:t>Active Users  </a:t>
            </a:r>
          </a:p>
          <a:p>
            <a:r>
              <a:rPr lang="en-US" dirty="0">
                <a:latin typeface="Cambria" panose="02040503050406030204" pitchFamily="18" charset="0"/>
                <a:ea typeface="Cambria" panose="02040503050406030204" pitchFamily="18" charset="0"/>
              </a:rPr>
              <a:t>Churned Users </a:t>
            </a:r>
          </a:p>
          <a:p>
            <a:r>
              <a:rPr lang="en-US" dirty="0">
                <a:latin typeface="Cambria" panose="02040503050406030204" pitchFamily="18" charset="0"/>
                <a:ea typeface="Cambria" panose="02040503050406030204" pitchFamily="18" charset="0"/>
              </a:rPr>
              <a:t>Churn Rate (%) </a:t>
            </a:r>
          </a:p>
          <a:p>
            <a:r>
              <a:rPr lang="en-US" dirty="0">
                <a:latin typeface="Cambria" panose="02040503050406030204" pitchFamily="18" charset="0"/>
                <a:ea typeface="Cambria" panose="02040503050406030204" pitchFamily="18" charset="0"/>
              </a:rPr>
              <a:t>Average Listening Time </a:t>
            </a:r>
          </a:p>
          <a:p>
            <a:pPr marL="0" indent="0">
              <a:buNone/>
            </a:pPr>
            <a:endParaRPr lang="en-US" dirty="0"/>
          </a:p>
          <a:p>
            <a:endParaRPr lang="en-IN" dirty="0"/>
          </a:p>
        </p:txBody>
      </p:sp>
    </p:spTree>
    <p:extLst>
      <p:ext uri="{BB962C8B-B14F-4D97-AF65-F5344CB8AC3E}">
        <p14:creationId xmlns:p14="http://schemas.microsoft.com/office/powerpoint/2010/main" val="2160755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B918D-CDD1-7330-5164-0FEA6C1F512A}"/>
              </a:ext>
            </a:extLst>
          </p:cNvPr>
          <p:cNvSpPr>
            <a:spLocks noGrp="1"/>
          </p:cNvSpPr>
          <p:nvPr>
            <p:ph type="title"/>
          </p:nvPr>
        </p:nvSpPr>
        <p:spPr/>
        <p:txBody>
          <a:bodyPr/>
          <a:lstStyle/>
          <a:p>
            <a:r>
              <a:rPr lang="en-IN" b="1" dirty="0"/>
              <a:t>Dashboard Overview</a:t>
            </a:r>
            <a:br>
              <a:rPr lang="en-IN" b="1" dirty="0"/>
            </a:br>
            <a:endParaRPr lang="en-IN" dirty="0"/>
          </a:p>
        </p:txBody>
      </p:sp>
      <p:sp>
        <p:nvSpPr>
          <p:cNvPr id="3" name="Content Placeholder 2">
            <a:extLst>
              <a:ext uri="{FF2B5EF4-FFF2-40B4-BE49-F238E27FC236}">
                <a16:creationId xmlns:a16="http://schemas.microsoft.com/office/drawing/2014/main" id="{A05DF3A5-2B69-6F4A-BC43-09A83B4DA9CC}"/>
              </a:ext>
            </a:extLst>
          </p:cNvPr>
          <p:cNvSpPr>
            <a:spLocks noGrp="1"/>
          </p:cNvSpPr>
          <p:nvPr>
            <p:ph idx="1"/>
          </p:nvPr>
        </p:nvSpPr>
        <p:spPr>
          <a:xfrm>
            <a:off x="677334" y="1474839"/>
            <a:ext cx="8596668" cy="5383161"/>
          </a:xfrm>
        </p:spPr>
        <p:txBody>
          <a:bodyPr>
            <a:normAutofit fontScale="92500" lnSpcReduction="20000"/>
          </a:bodyPr>
          <a:lstStyle/>
          <a:p>
            <a:pPr marL="0" indent="0">
              <a:buNone/>
            </a:pPr>
            <a:r>
              <a:rPr lang="en-US" b="1" dirty="0"/>
              <a:t>Page 1: Overview Dashboard</a:t>
            </a:r>
          </a:p>
          <a:p>
            <a:r>
              <a:rPr lang="en-US" dirty="0"/>
              <a:t>KPI Cards </a:t>
            </a:r>
          </a:p>
          <a:p>
            <a:r>
              <a:rPr lang="en-US" dirty="0"/>
              <a:t>Users by Gender </a:t>
            </a:r>
          </a:p>
          <a:p>
            <a:r>
              <a:rPr lang="en-US" dirty="0"/>
              <a:t>Users by Age Group </a:t>
            </a:r>
          </a:p>
          <a:p>
            <a:r>
              <a:rPr lang="en-US" dirty="0"/>
              <a:t>Users by Subscription Type </a:t>
            </a:r>
          </a:p>
          <a:p>
            <a:r>
              <a:rPr lang="en-US" dirty="0"/>
              <a:t>Subscription Type vs Churn Status </a:t>
            </a:r>
          </a:p>
          <a:p>
            <a:pPr marL="0" indent="0">
              <a:buNone/>
            </a:pPr>
            <a:r>
              <a:rPr lang="en-US" b="1" dirty="0"/>
              <a:t>Page 2: Churn Analysis Dashboard</a:t>
            </a:r>
          </a:p>
          <a:p>
            <a:r>
              <a:rPr lang="en-US" dirty="0"/>
              <a:t>Skip Rate by Churn Status </a:t>
            </a:r>
          </a:p>
          <a:p>
            <a:r>
              <a:rPr lang="en-US" dirty="0"/>
              <a:t>Ads Listened by Churn Status </a:t>
            </a:r>
          </a:p>
          <a:p>
            <a:r>
              <a:rPr lang="en-US" dirty="0"/>
              <a:t>Churned Users by Device Type </a:t>
            </a:r>
          </a:p>
          <a:p>
            <a:r>
              <a:rPr lang="en-US" dirty="0"/>
              <a:t>Churn Analysis by Subscription Type </a:t>
            </a:r>
          </a:p>
          <a:p>
            <a:pPr marL="0" indent="0">
              <a:buNone/>
            </a:pPr>
            <a:r>
              <a:rPr lang="en-US" b="1" dirty="0"/>
              <a:t>Page 3: User Behavior Dashboard</a:t>
            </a:r>
          </a:p>
          <a:p>
            <a:r>
              <a:rPr lang="en-US" dirty="0"/>
              <a:t>Users by Country </a:t>
            </a:r>
          </a:p>
          <a:p>
            <a:r>
              <a:rPr lang="en-US" dirty="0"/>
              <a:t>Users by Device Type </a:t>
            </a:r>
          </a:p>
          <a:p>
            <a:r>
              <a:rPr lang="en-US" dirty="0"/>
              <a:t>Listening Category Analysis </a:t>
            </a:r>
          </a:p>
          <a:p>
            <a:r>
              <a:rPr lang="en-US" dirty="0"/>
              <a:t>Churn Rate by Subscription Type</a:t>
            </a:r>
          </a:p>
          <a:p>
            <a:endParaRPr lang="en-IN" dirty="0"/>
          </a:p>
        </p:txBody>
      </p:sp>
    </p:spTree>
    <p:extLst>
      <p:ext uri="{BB962C8B-B14F-4D97-AF65-F5344CB8AC3E}">
        <p14:creationId xmlns:p14="http://schemas.microsoft.com/office/powerpoint/2010/main" val="42244878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D1B14-496A-6E85-6C75-492A32CAEF07}"/>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ACE4096-A321-A121-2175-9893E17DDAB1}"/>
              </a:ext>
            </a:extLst>
          </p:cNvPr>
          <p:cNvPicPr>
            <a:picLocks noGrp="1" noChangeAspect="1"/>
          </p:cNvPicPr>
          <p:nvPr>
            <p:ph idx="1"/>
          </p:nvPr>
        </p:nvPicPr>
        <p:blipFill>
          <a:blip r:embed="rId2"/>
          <a:stretch>
            <a:fillRect/>
          </a:stretch>
        </p:blipFill>
        <p:spPr>
          <a:xfrm>
            <a:off x="410087" y="294969"/>
            <a:ext cx="10957095" cy="6104668"/>
          </a:xfrm>
          <a:prstGeom prst="rect">
            <a:avLst/>
          </a:prstGeom>
        </p:spPr>
      </p:pic>
    </p:spTree>
    <p:extLst>
      <p:ext uri="{BB962C8B-B14F-4D97-AF65-F5344CB8AC3E}">
        <p14:creationId xmlns:p14="http://schemas.microsoft.com/office/powerpoint/2010/main" val="33433489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6D2B25-0C8C-1CAB-A1B3-D01F4C27F23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BE55253-3A18-D114-7DAE-2A87E1757B85}"/>
              </a:ext>
            </a:extLst>
          </p:cNvPr>
          <p:cNvPicPr>
            <a:picLocks noGrp="1" noChangeAspect="1"/>
          </p:cNvPicPr>
          <p:nvPr>
            <p:ph idx="1"/>
          </p:nvPr>
        </p:nvPicPr>
        <p:blipFill>
          <a:blip r:embed="rId2"/>
          <a:stretch>
            <a:fillRect/>
          </a:stretch>
        </p:blipFill>
        <p:spPr>
          <a:xfrm>
            <a:off x="438013" y="166708"/>
            <a:ext cx="10967406" cy="6352705"/>
          </a:xfrm>
          <a:prstGeom prst="rect">
            <a:avLst/>
          </a:prstGeom>
        </p:spPr>
      </p:pic>
    </p:spTree>
    <p:extLst>
      <p:ext uri="{BB962C8B-B14F-4D97-AF65-F5344CB8AC3E}">
        <p14:creationId xmlns:p14="http://schemas.microsoft.com/office/powerpoint/2010/main" val="3686646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6E119-47EA-4D81-7395-EA603E2C44E2}"/>
              </a:ext>
            </a:extLst>
          </p:cNvPr>
          <p:cNvSpPr>
            <a:spLocks noGrp="1"/>
          </p:cNvSpPr>
          <p:nvPr>
            <p:ph type="title"/>
          </p:nvPr>
        </p:nvSpPr>
        <p:spPr/>
        <p:txBody>
          <a:bodyPr/>
          <a:lstStyle/>
          <a:p>
            <a:endParaRPr lang="en-IN"/>
          </a:p>
        </p:txBody>
      </p:sp>
      <p:sp>
        <p:nvSpPr>
          <p:cNvPr id="7" name="Content Placeholder 6">
            <a:extLst>
              <a:ext uri="{FF2B5EF4-FFF2-40B4-BE49-F238E27FC236}">
                <a16:creationId xmlns:a16="http://schemas.microsoft.com/office/drawing/2014/main" id="{35325495-D1FF-BC98-1377-D2390580B0C2}"/>
              </a:ext>
            </a:extLst>
          </p:cNvPr>
          <p:cNvSpPr>
            <a:spLocks noGrp="1"/>
          </p:cNvSpPr>
          <p:nvPr>
            <p:ph idx="1"/>
          </p:nvPr>
        </p:nvSpPr>
        <p:spPr/>
        <p:txBody>
          <a:bodyPr/>
          <a:lstStyle/>
          <a:p>
            <a:endParaRPr lang="en-IN"/>
          </a:p>
        </p:txBody>
      </p:sp>
      <p:pic>
        <p:nvPicPr>
          <p:cNvPr id="9" name="Picture 8">
            <a:extLst>
              <a:ext uri="{FF2B5EF4-FFF2-40B4-BE49-F238E27FC236}">
                <a16:creationId xmlns:a16="http://schemas.microsoft.com/office/drawing/2014/main" id="{76847FDC-67F5-65EE-11B1-7877292C475D}"/>
              </a:ext>
            </a:extLst>
          </p:cNvPr>
          <p:cNvPicPr>
            <a:picLocks noChangeAspect="1"/>
          </p:cNvPicPr>
          <p:nvPr/>
        </p:nvPicPr>
        <p:blipFill>
          <a:blip r:embed="rId2"/>
          <a:stretch>
            <a:fillRect/>
          </a:stretch>
        </p:blipFill>
        <p:spPr>
          <a:xfrm>
            <a:off x="229505" y="78657"/>
            <a:ext cx="10828421" cy="6661355"/>
          </a:xfrm>
          <a:prstGeom prst="rect">
            <a:avLst/>
          </a:prstGeom>
        </p:spPr>
      </p:pic>
    </p:spTree>
    <p:extLst>
      <p:ext uri="{BB962C8B-B14F-4D97-AF65-F5344CB8AC3E}">
        <p14:creationId xmlns:p14="http://schemas.microsoft.com/office/powerpoint/2010/main" val="6025961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CEF5-DF24-CE31-5F70-C933554B5EEF}"/>
              </a:ext>
            </a:extLst>
          </p:cNvPr>
          <p:cNvSpPr>
            <a:spLocks noGrp="1"/>
          </p:cNvSpPr>
          <p:nvPr>
            <p:ph type="title"/>
          </p:nvPr>
        </p:nvSpPr>
        <p:spPr>
          <a:xfrm>
            <a:off x="647837" y="836302"/>
            <a:ext cx="8596668" cy="1320800"/>
          </a:xfrm>
        </p:spPr>
        <p:txBody>
          <a:bodyPr/>
          <a:lstStyle/>
          <a:p>
            <a:r>
              <a:rPr lang="en-US" b="1" dirty="0"/>
              <a:t>Key Insights</a:t>
            </a:r>
            <a:br>
              <a:rPr lang="en-US" b="1" dirty="0"/>
            </a:br>
            <a:endParaRPr lang="en-IN" dirty="0"/>
          </a:p>
        </p:txBody>
      </p:sp>
      <p:sp>
        <p:nvSpPr>
          <p:cNvPr id="5" name="Rectangle 2">
            <a:extLst>
              <a:ext uri="{FF2B5EF4-FFF2-40B4-BE49-F238E27FC236}">
                <a16:creationId xmlns:a16="http://schemas.microsoft.com/office/drawing/2014/main" id="{C85A59DD-B338-731D-3A5A-D5F78CA0F854}"/>
              </a:ext>
            </a:extLst>
          </p:cNvPr>
          <p:cNvSpPr>
            <a:spLocks noGrp="1" noChangeArrowheads="1"/>
          </p:cNvSpPr>
          <p:nvPr>
            <p:ph idx="1"/>
          </p:nvPr>
        </p:nvSpPr>
        <p:spPr bwMode="auto">
          <a:xfrm>
            <a:off x="647837" y="1629647"/>
            <a:ext cx="8596668" cy="38807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Users with high listening activity show lower churn behavior.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Family subscription plan has the highest churn rate among subscription types.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Desktop and Web users show slightly higher churn compared to Mobile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Users with high listening engagement form the majority of active users.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Skip rate differences indicate user engagement impacts retention. </a:t>
            </a:r>
          </a:p>
        </p:txBody>
      </p:sp>
    </p:spTree>
    <p:extLst>
      <p:ext uri="{BB962C8B-B14F-4D97-AF65-F5344CB8AC3E}">
        <p14:creationId xmlns:p14="http://schemas.microsoft.com/office/powerpoint/2010/main" val="3168068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D264-F208-16D8-DBBB-9429FD3560F6}"/>
              </a:ext>
            </a:extLst>
          </p:cNvPr>
          <p:cNvSpPr>
            <a:spLocks noGrp="1"/>
          </p:cNvSpPr>
          <p:nvPr>
            <p:ph type="title"/>
          </p:nvPr>
        </p:nvSpPr>
        <p:spPr/>
        <p:txBody>
          <a:bodyPr/>
          <a:lstStyle/>
          <a:p>
            <a:r>
              <a:rPr lang="en-US" b="1" dirty="0"/>
              <a:t>Conclusion</a:t>
            </a:r>
            <a:br>
              <a:rPr lang="en-US" b="1" dirty="0"/>
            </a:br>
            <a:endParaRPr lang="en-IN" dirty="0"/>
          </a:p>
        </p:txBody>
      </p:sp>
      <p:sp>
        <p:nvSpPr>
          <p:cNvPr id="3" name="Content Placeholder 2">
            <a:extLst>
              <a:ext uri="{FF2B5EF4-FFF2-40B4-BE49-F238E27FC236}">
                <a16:creationId xmlns:a16="http://schemas.microsoft.com/office/drawing/2014/main" id="{071A6116-437B-7FDC-D0DB-453EC190933C}"/>
              </a:ext>
            </a:extLst>
          </p:cNvPr>
          <p:cNvSpPr>
            <a:spLocks noGrp="1"/>
          </p:cNvSpPr>
          <p:nvPr>
            <p:ph idx="1"/>
          </p:nvPr>
        </p:nvSpPr>
        <p:spPr/>
        <p:txBody>
          <a:bodyPr/>
          <a:lstStyle/>
          <a:p>
            <a:r>
              <a:rPr lang="en-US" dirty="0"/>
              <a:t>This project successfully analyzes Spotify user behavior and customer churn using Power BI. Interactive dashboards and visual analytics helped identify key churn factors such as listening behavior, subscription type, and user engagement. The insights gained can support better customer retention strategies.</a:t>
            </a:r>
            <a:endParaRPr lang="en-IN" dirty="0"/>
          </a:p>
        </p:txBody>
      </p:sp>
    </p:spTree>
    <p:extLst>
      <p:ext uri="{BB962C8B-B14F-4D97-AF65-F5344CB8AC3E}">
        <p14:creationId xmlns:p14="http://schemas.microsoft.com/office/powerpoint/2010/main" val="234064073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184489-0951-FA33-863F-C6DB142A34D9}"/>
              </a:ext>
            </a:extLst>
          </p:cNvPr>
          <p:cNvSpPr>
            <a:spLocks noGrp="1"/>
          </p:cNvSpPr>
          <p:nvPr>
            <p:ph type="title"/>
          </p:nvPr>
        </p:nvSpPr>
        <p:spPr>
          <a:xfrm>
            <a:off x="677334" y="609599"/>
            <a:ext cx="8596668" cy="3618271"/>
          </a:xfrm>
        </p:spPr>
        <p:txBody>
          <a:bodyPr>
            <a:normAutofit/>
          </a:bodyPr>
          <a:lstStyle/>
          <a:p>
            <a:pPr algn="ctr"/>
            <a:r>
              <a:rPr lang="en-IN" sz="6000" dirty="0"/>
              <a:t>THANK YOU</a:t>
            </a:r>
          </a:p>
        </p:txBody>
      </p:sp>
      <p:sp>
        <p:nvSpPr>
          <p:cNvPr id="3" name="Content Placeholder 2">
            <a:extLst>
              <a:ext uri="{FF2B5EF4-FFF2-40B4-BE49-F238E27FC236}">
                <a16:creationId xmlns:a16="http://schemas.microsoft.com/office/drawing/2014/main" id="{A5DCB306-263C-DAF3-B4B7-4783866D4955}"/>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23657361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docProps/app.xml><?xml version="1.0" encoding="utf-8"?>
<Properties xmlns="http://schemas.openxmlformats.org/officeDocument/2006/extended-properties" xmlns:vt="http://schemas.openxmlformats.org/officeDocument/2006/docPropsVTypes">
  <Template>TM02900688[[fn=Facet]]</Template>
  <TotalTime>134</TotalTime>
  <Words>400</Words>
  <Application>Microsoft Office PowerPoint</Application>
  <PresentationFormat>Widescreen</PresentationFormat>
  <Paragraphs>79</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Cambria</vt:lpstr>
      <vt:lpstr>Courier New</vt:lpstr>
      <vt:lpstr>Trebuchet MS</vt:lpstr>
      <vt:lpstr>Wingdings 3</vt:lpstr>
      <vt:lpstr>Facet</vt:lpstr>
      <vt:lpstr>MINI PROJECT REPORT ON</vt:lpstr>
      <vt:lpstr>CONTENTS</vt:lpstr>
      <vt:lpstr>Introduction</vt:lpstr>
      <vt:lpstr>Dataset Description </vt:lpstr>
      <vt:lpstr>Objective </vt:lpstr>
      <vt:lpstr>Tools Used </vt:lpstr>
      <vt:lpstr>Data Preparation </vt:lpstr>
      <vt:lpstr>Key Measures (DAX) </vt:lpstr>
      <vt:lpstr>Dashboard Overview </vt:lpstr>
      <vt:lpstr>PowerPoint Presentation</vt:lpstr>
      <vt:lpstr>PowerPoint Presentation</vt:lpstr>
      <vt:lpstr>PowerPoint Presentation</vt:lpstr>
      <vt:lpstr>Key Insights </vt:lpstr>
      <vt:lpstr>Conclusion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Anumol Sukumaran</dc:creator>
  <cp:lastModifiedBy>Anumol Sukumaran</cp:lastModifiedBy>
  <cp:revision>10</cp:revision>
  <dcterms:created xsi:type="dcterms:W3CDTF">2026-05-03T14:29:42Z</dcterms:created>
  <dcterms:modified xsi:type="dcterms:W3CDTF">2026-05-08T07:18:41Z</dcterms:modified>
</cp:coreProperties>
</file>